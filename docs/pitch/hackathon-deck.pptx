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"SAFE is a payment firewall for autonomous agents. Wallet caps say how much an agent can spend. SAFE decides whether this specific payment should happen at all."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about 15 seconds. Make the distinction clear: crypto payment validity is not the same as user-intent validity. The 35k-350k estimate is a conservative model: 0.1%-1% of 35M transactions.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"The agent does not sign directly. It asks SAFE. SAFE approves, rejects, or redacts before any settlement is attempted."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terminal or dashboard here. If live network is slow, run dry-run plus show a previous Explorer URL and audit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the product is intentionally bounded: devnet, local facilitator, local registry. The important part is the end-to-end control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x402-specific traction: 150M+ agent payments (119M on Base, 35M on Solana), ~$600M annualized volume, a 10,000%+ monthly surge in late 2025, Linux Foundation governance with Visa, Stripe, Circle, Google and Microsoft. Juniper Research: agentic commerce $8B in 2026 → $1.5T by 2030 (~187x). McKinsey: $3-5T by 2030. These are third-party market projections.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with: "Autonomous agents need more than wallets. They need payment judgment. SAFE is the firewall before money moves."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4F7FA"/>
                </a:solidFill>
                <a:latin typeface="Courier New"/>
              </a:rPr>
              <a:t>● SAFE//pitch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926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6B7280"/>
                </a:solidFill>
                <a:latin typeface="Calibri"/>
              </a:rPr>
              <a:t>2-minute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4F195"/>
                </a:solidFill>
                <a:latin typeface="Courier New"/>
              </a:rPr>
              <a:t>// SPEND AUTHORIZATION FIREWALL FOR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4200">
                <a:solidFill>
                  <a:srgbClr val="F4F7FA"/>
                </a:solidFill>
                <a:latin typeface="Calibri"/>
              </a:rPr>
              <a:t>Agents can spend.
SAFE decides if they should.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A2A8B4"/>
                </a:solidFill>
                <a:latin typeface="Calibri"/>
              </a:rPr>
              <a:t>A buyer-side payment firewall that lets AI agents pay for x402 resources through Solana allowances without blind wallet access.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480560"/>
            <a:ext cx="1906524" cy="256032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07992"/>
            <a:ext cx="18150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14F195"/>
                </a:solidFill>
                <a:latin typeface="Calibri"/>
              </a:rPr>
              <a:t>✓ working devnet 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83764" y="4480560"/>
            <a:ext cx="2139696" cy="256032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5204" y="4507992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38BDF8"/>
                </a:solidFill>
                <a:latin typeface="Calibri"/>
              </a:rPr>
              <a:t>x402 + Solana allowances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60620" y="4480560"/>
            <a:ext cx="1673352" cy="256032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2060" y="4507992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6B7280"/>
                </a:solidFill>
                <a:latin typeface="Calibri"/>
              </a:rPr>
              <a:t>external-agent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09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6B7280"/>
                </a:solidFill>
                <a:latin typeface="Calibri"/>
              </a:rPr>
              <a:t>Open with this 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6B7280"/>
                </a:solidFill>
                <a:latin typeface="Calibri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4F195"/>
                </a:solidFill>
                <a:latin typeface="Courier New"/>
              </a:rPr>
              <a:t>//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320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6B7280"/>
                </a:solidFill>
                <a:latin typeface="Calibri"/>
              </a:rPr>
              <a:t>Wallet caps are not judgment.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600">
                <a:solidFill>
                  <a:srgbClr val="F4F7FA"/>
                </a:solidFill>
                <a:latin typeface="Calibri"/>
              </a:rPr>
              <a:t>A valid transaction can still be the wrong payment.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A2A8B4"/>
                </a:solidFill>
                <a:latin typeface="Calibri"/>
              </a:rPr>
              <a:t>Solana x402 has already processed real payment volume. Even tiny wrong-payment rates become a large safety problem.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71800"/>
            <a:ext cx="2651760" cy="100584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14F195"/>
                </a:solidFill>
                <a:latin typeface="Calibri"/>
              </a:rPr>
              <a:t>35M+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2A8B4"/>
                </a:solidFill>
                <a:latin typeface="Calibri"/>
              </a:rPr>
              <a:t>Solana x402 transactions all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971800"/>
            <a:ext cx="2651760" cy="100584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3108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14F195"/>
                </a:solidFill>
                <a:latin typeface="Calibri"/>
              </a:rPr>
              <a:t>$10M+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2A8B4"/>
                </a:solidFill>
                <a:latin typeface="Calibri"/>
              </a:rPr>
              <a:t>Solana x402 payment volume all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14800"/>
            <a:ext cx="5440680" cy="914400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BBF24"/>
                </a:solidFill>
                <a:latin typeface="Calibri"/>
              </a:rPr>
              <a:t>35k–350k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2A8B4"/>
                </a:solidFill>
                <a:latin typeface="Calibri"/>
              </a:rPr>
              <a:t>Applying a 0.1%–1% wrong-payment rate to observed Solana x402 volume.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66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900">
                <a:solidFill>
                  <a:srgbClr val="6B7280"/>
                </a:solidFill>
                <a:latin typeface="Calibri"/>
              </a:rPr>
              <a:t>Modeled from public Solana x402 volume × wrong-payment rates from x402 attack research.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005840"/>
            <a:ext cx="5303520" cy="484632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3716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87171"/>
                </a:solidFill>
                <a:latin typeface="Calibri"/>
              </a:rPr>
              <a:t>✗  Fake merchant gets paid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2140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87171"/>
                </a:solidFill>
                <a:latin typeface="Calibri"/>
              </a:rPr>
              <a:t>✗  Retry loop drains 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871215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87171"/>
                </a:solidFill>
                <a:latin typeface="Calibri"/>
              </a:rPr>
              <a:t>✗  Wrong category slips 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62102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87171"/>
                </a:solidFill>
                <a:latin typeface="Calibri"/>
              </a:rPr>
              <a:t>✗  PII metadata leaks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370831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87171"/>
                </a:solidFill>
                <a:latin typeface="Calibri"/>
              </a:rPr>
              <a:t>✗  Recipient mismatch still signs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09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6B7280"/>
                </a:solidFill>
                <a:latin typeface="Calibri"/>
              </a:rPr>
              <a:t>Public dashboards count volume. SAFE blocks and records wrong payments.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6B7280"/>
                </a:solidFill>
                <a:latin typeface="Calibri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4F195"/>
                </a:solidFill>
                <a:latin typeface="Courier New"/>
              </a:rPr>
              <a:t>//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320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6B7280"/>
                </a:solidFill>
                <a:latin typeface="Calibri"/>
              </a:rPr>
              <a:t>Pre-signing policy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F4F7FA"/>
                </a:solidFill>
                <a:latin typeface="Calibri"/>
              </a:rPr>
              <a:t>SAFE sits between the agent and money.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103120" cy="228600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14F195"/>
                </a:solidFill>
                <a:latin typeface="Courier New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4F7FA"/>
                </a:solidFill>
                <a:latin typeface="Calibri"/>
              </a:rPr>
              <a:t>x402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632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2A8B4"/>
                </a:solidFill>
                <a:latin typeface="Calibri"/>
              </a:rPr>
              <a:t>Paid API returns a structured payment requirement.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0048" y="1920240"/>
            <a:ext cx="2103120" cy="228600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7208" y="20574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14F195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2606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4F7FA"/>
                </a:solidFill>
                <a:latin typeface="Calibri"/>
              </a:rPr>
              <a:t>Normalize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30632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2A8B4"/>
                </a:solidFill>
                <a:latin typeface="Calibri"/>
              </a:rPr>
              <a:t>Merchant, amount, token, recipient, URL, reason.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82896" y="1920240"/>
            <a:ext cx="2103120" cy="228600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0056" y="20574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14F195"/>
                </a:solidFill>
                <a:latin typeface="Courier New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0056" y="2606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4F7FA"/>
                </a:solidFill>
                <a:latin typeface="Calibri"/>
              </a:rPr>
              <a:t>Policy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056" y="30632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2A8B4"/>
                </a:solidFill>
                <a:latin typeface="Calibri"/>
              </a:rPr>
              <a:t>Trust, category, cap, replay, PII, allowance.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1920240"/>
            <a:ext cx="2103120" cy="228600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2904" y="20574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14F195"/>
                </a:solidFill>
                <a:latin typeface="Courier New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2904" y="2606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4F7FA"/>
                </a:solidFill>
                <a:latin typeface="Calibri"/>
              </a:rPr>
              <a:t>Settle or block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2904" y="30632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2A8B4"/>
                </a:solidFill>
                <a:latin typeface="Calibri"/>
              </a:rPr>
              <a:t>Approved payments settle. Unsafe ones never sign.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08592" y="1920240"/>
            <a:ext cx="2103120" cy="228600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5752" y="20574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14F195"/>
                </a:solidFill>
                <a:latin typeface="Courier New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2606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4F7FA"/>
                </a:solidFill>
                <a:latin typeface="Calibri"/>
              </a:rPr>
              <a:t>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30632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2A8B4"/>
                </a:solidFill>
                <a:latin typeface="Calibri"/>
              </a:rPr>
              <a:t>Decision, reason, and tx receipt.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09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6B7280"/>
                </a:solidFill>
                <a:latin typeface="Calibri"/>
              </a:rPr>
              <a:t>SAFE is not a wallet. SAFE is the buyer-side payment firewall.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6B7280"/>
                </a:solidFill>
                <a:latin typeface="Calibri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4F195"/>
                </a:solidFill>
                <a:latin typeface="Courier New"/>
              </a:rPr>
              <a:t>//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320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6B7280"/>
                </a:solidFill>
                <a:latin typeface="Calibri"/>
              </a:rPr>
              <a:t>Spend about 60 seconds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4F7FA"/>
                </a:solidFill>
                <a:latin typeface="Calibri"/>
              </a:rPr>
              <a:t>External agent to devnet settlement.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A2A8B4"/>
                </a:solidFill>
                <a:latin typeface="Calibri"/>
              </a:rPr>
              <a:t>The demo proves the full path, not just policy text.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06040"/>
            <a:ext cx="1517904" cy="256032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33472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14F195"/>
                </a:solidFill>
                <a:latin typeface="Calibri"/>
              </a:rPr>
              <a:t>✓ approved stats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95144" y="2606040"/>
            <a:ext cx="2061972" cy="256032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86584" y="2633472"/>
            <a:ext cx="19705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F87171"/>
                </a:solidFill>
                <a:latin typeface="Calibri"/>
              </a:rPr>
              <a:t>✗ blocked fake merchant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4276" y="2606040"/>
            <a:ext cx="1284732" cy="256032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5716" y="2633472"/>
            <a:ext cx="11932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38BDF8"/>
                </a:solidFill>
                <a:latin typeface="Calibri"/>
              </a:rPr>
              <a:t>audit visible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914400"/>
            <a:ext cx="5486400" cy="493776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914400"/>
            <a:ext cx="5486400" cy="384048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9601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6B7280"/>
                </a:solidFill>
                <a:latin typeface="Courier New"/>
              </a:rPr>
              <a:t>demo 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9601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6B7280"/>
                </a:solidFill>
                <a:latin typeface="Courier New"/>
              </a:rPr>
              <a:t>localhost:3000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4173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4F195"/>
                </a:solidFill>
                <a:latin typeface="Courier New"/>
              </a:rPr>
              <a:t>BASE=http://localhost:3000
pnpm safe doctor
pnpm safe pay $BASE/api/x402/stats --dry-run
pnpm safe pay $BASE/api/x402/stats
pnpm safe pay $BASE/api/x402/fake-merch --dry-run
pnpm safe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09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6B7280"/>
                </a:solidFill>
                <a:latin typeface="Calibri"/>
              </a:rPr>
              <a:t>Show: decision, tx signature, Explorer URL — then the audit record via `safe audit`.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6B7280"/>
                </a:solidFill>
                <a:latin typeface="Calibri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4F195"/>
                </a:solidFill>
                <a:latin typeface="Courier New"/>
              </a:rPr>
              <a:t>// What Works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320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6B7280"/>
                </a:solidFill>
                <a:latin typeface="Calibri"/>
              </a:rPr>
              <a:t>Local/private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0584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600">
                <a:solidFill>
                  <a:srgbClr val="F4F7FA"/>
                </a:solidFill>
                <a:latin typeface="Calibri"/>
              </a:rPr>
              <a:t>Not a mockup. A working control plane.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920240"/>
            <a:ext cx="2651760" cy="118872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057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14F195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06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2A8B4"/>
                </a:solidFill>
                <a:latin typeface="Calibri"/>
              </a:rPr>
              <a:t>SAFE API routes for agents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006840" y="1920240"/>
            <a:ext cx="2834640" cy="118872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89720" y="2057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4F7FA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2606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2A8B4"/>
                </a:solidFill>
                <a:latin typeface="Calibri"/>
              </a:rPr>
              <a:t>integration paths: HTTP, SDK, CLI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337560"/>
            <a:ext cx="973836" cy="256032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364992"/>
            <a:ext cx="8823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6B7280"/>
                </a:solidFill>
                <a:latin typeface="Calibri"/>
              </a:rPr>
              <a:t>preflight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01484" y="3337560"/>
            <a:ext cx="818388" cy="256032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92924" y="3364992"/>
            <a:ext cx="7269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6B7280"/>
                </a:solidFill>
                <a:latin typeface="Calibri"/>
              </a:rPr>
              <a:t>dry-run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337560"/>
            <a:ext cx="507491" cy="256032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364992"/>
            <a:ext cx="41605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6B7280"/>
                </a:solidFill>
                <a:latin typeface="Calibri"/>
              </a:rPr>
              <a:t>pay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46819" y="3337560"/>
            <a:ext cx="662940" cy="256032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38259" y="3364992"/>
            <a:ext cx="571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6B7280"/>
                </a:solidFill>
                <a:latin typeface="Calibri"/>
              </a:rPr>
              <a:t>audit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19487" y="3337560"/>
            <a:ext cx="973836" cy="256032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0927" y="3364992"/>
            <a:ext cx="8823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6B7280"/>
                </a:solidFill>
                <a:latin typeface="Calibri"/>
              </a:rPr>
              <a:t>redaction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03051" y="3337560"/>
            <a:ext cx="1207008" cy="256032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94491" y="3364992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6B7280"/>
                </a:solidFill>
                <a:latin typeface="Calibri"/>
              </a:rPr>
              <a:t>replay guard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914400"/>
            <a:ext cx="5486400" cy="4937760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27432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600">
                <a:solidFill>
                  <a:srgbClr val="6B7280"/>
                </a:solidFill>
                <a:latin typeface="Calibri"/>
              </a:rPr>
              <a:t>[SAFE Console
screenshots]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09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6B7280"/>
                </a:solidFill>
                <a:latin typeface="Calibri"/>
              </a:rPr>
              <a:t>Current MVP: devnet-only, local/private SDK and CLI.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6B7280"/>
                </a:solidFill>
                <a:latin typeface="Calibri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4F195"/>
                </a:solidFill>
                <a:latin typeface="Courier New"/>
              </a:rPr>
              <a:t>//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320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6B7280"/>
                </a:solidFill>
                <a:latin typeface="Calibri"/>
              </a:rPr>
              <a:t>x402 agent payments went 0 → 150M+ in under a year.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600">
                <a:solidFill>
                  <a:srgbClr val="F4F7FA"/>
                </a:solidFill>
                <a:latin typeface="Calibri"/>
              </a:rPr>
              <a:t>x402 is the agent payment rail.
Agentic volume is projected to 187× by 2030.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10881360" cy="685800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F4F7FA"/>
                </a:solidFill>
                <a:latin typeface="Calibri"/>
              </a:rPr>
              <a:t>x402 today:  150M+ agent payments (119M on Base, 35M on Solana) and ~$600M annualized volume in under a year — now governed by the Linux Foundation with Visa, Stripe, Circle, Google &amp; Microsoft behind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54680"/>
            <a:ext cx="2606040" cy="219456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F4F7FA"/>
                </a:solidFill>
                <a:latin typeface="Calibri"/>
              </a:rPr>
              <a:t>+10,000%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976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2A8B4"/>
                </a:solidFill>
                <a:latin typeface="Calibri"/>
              </a:rPr>
              <a:t>x402 monthly transaction surge when agents went live.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3154680"/>
            <a:ext cx="2606040" cy="219456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32461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6B7280"/>
                </a:solidFill>
                <a:latin typeface="Calibri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35661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F4F7FA"/>
                </a:solidFill>
                <a:latin typeface="Calibri"/>
              </a:rPr>
              <a:t>$8B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42976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2A8B4"/>
                </a:solidFill>
                <a:latin typeface="Calibri"/>
              </a:rPr>
              <a:t>agentic commerce transaction value this year (Juniper).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3154680"/>
            <a:ext cx="2606040" cy="219456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32461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6B7280"/>
                </a:solidFill>
                <a:latin typeface="Calibri"/>
              </a:rPr>
              <a:t>2030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35661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14F195"/>
                </a:solidFill>
                <a:latin typeface="Calibri"/>
              </a:rPr>
              <a:t>$1.5T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42976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2A8B4"/>
                </a:solidFill>
                <a:latin typeface="Calibri"/>
              </a:rPr>
              <a:t>projected agentic commerce value — ~187× in four years (Juniper).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14816" y="3154680"/>
            <a:ext cx="2606040" cy="219456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1976" y="32461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6B7280"/>
                </a:solidFill>
                <a:latin typeface="Calibri"/>
              </a:rPr>
              <a:t>2030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1976" y="35661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F4F7FA"/>
                </a:solidFill>
                <a:latin typeface="Calibri"/>
              </a:rPr>
              <a:t>$3–5T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42976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A2A8B4"/>
                </a:solidFill>
                <a:latin typeface="Calibri"/>
              </a:rPr>
              <a:t>agentic payments worldwide (McKinsey).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F4F7FA"/>
                </a:solidFill>
                <a:latin typeface="Calibri"/>
              </a:rPr>
              <a:t>x402 moves the money; SAFE decides whether it should move. Every agent payment needs a pre-signing safety check — so SAFE's market is agentic payment volume.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09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6B7280"/>
                </a:solidFill>
                <a:latin typeface="Calibri"/>
              </a:rPr>
              <a:t>The agent payment rail is compounding — the safety layer has to scale with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6B7280"/>
                </a:solidFill>
                <a:latin typeface="Calibri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14F195"/>
                </a:solidFill>
                <a:latin typeface="Courier New"/>
              </a:rPr>
              <a:t>// Grand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320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100">
                <a:solidFill>
                  <a:srgbClr val="6B7280"/>
                </a:solidFill>
                <a:latin typeface="Calibri"/>
              </a:rPr>
              <a:t>Private-first, shared-by-proof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F4F7FA"/>
                </a:solidFill>
                <a:latin typeface="Calibri"/>
              </a:rPr>
              <a:t>From payment firewall to shared trust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A2A8B4"/>
                </a:solidFill>
                <a:latin typeface="Calibri"/>
              </a:rPr>
              <a:t>SAFE starts local. Then unknown payments can be verified by private agents, turned into signed evidence, and reused as sanitized trust signals.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1984248" cy="256032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53512"/>
            <a:ext cx="1892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14F195"/>
                </a:solidFill>
                <a:latin typeface="Calibri"/>
              </a:rPr>
              <a:t>private verifier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2926080"/>
            <a:ext cx="1906524" cy="256032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2928" y="2953512"/>
            <a:ext cx="18150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38BDF8"/>
                </a:solidFill>
                <a:latin typeface="Calibri"/>
              </a:rPr>
              <a:t>shared trust database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5172" y="2926080"/>
            <a:ext cx="1828800" cy="256032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6612" y="295351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6B7280"/>
                </a:solidFill>
                <a:latin typeface="Calibri"/>
              </a:rPr>
              <a:t>Solana proof anchors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10128"/>
            <a:ext cx="1984248" cy="256032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1892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6B7280"/>
                </a:solidFill>
                <a:latin typeface="Calibri"/>
              </a:rPr>
              <a:t>Filecoin/IPFS 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3310128"/>
            <a:ext cx="2217420" cy="256032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2928" y="3337560"/>
            <a:ext cx="21259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6B7280"/>
                </a:solidFill>
                <a:latin typeface="Calibri"/>
              </a:rPr>
              <a:t>0G later for AI-native 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005840"/>
            <a:ext cx="5303520" cy="5029200"/>
          </a:xfrm>
          <a:prstGeom prst="rect">
            <a:avLst/>
          </a:prstGeom>
          <a:solidFill>
            <a:srgbClr val="1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4173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4F195"/>
                </a:solidFill>
                <a:latin typeface="Calibri"/>
              </a:rPr>
              <a:t>Today: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4F7FA"/>
                </a:solidFill>
                <a:latin typeface="Calibri"/>
              </a:rPr>
              <a:t>Local SAFE firewall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2860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4F195"/>
                </a:solidFill>
                <a:latin typeface="Calibri"/>
              </a:rPr>
              <a:t>Next: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286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4F7FA"/>
                </a:solidFill>
                <a:latin typeface="Calibri"/>
              </a:rPr>
              <a:t>Verifier agents for unknown merchants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1546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4F195"/>
                </a:solidFill>
                <a:latin typeface="Calibri"/>
              </a:rPr>
              <a:t>Then: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3154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4F7FA"/>
                </a:solidFill>
                <a:latin typeface="Calibri"/>
              </a:rPr>
              <a:t>Shared trust 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023359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4F195"/>
                </a:solidFill>
                <a:latin typeface="Calibri"/>
              </a:rPr>
              <a:t>Later: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02335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4F7FA"/>
                </a:solidFill>
                <a:latin typeface="Calibri"/>
              </a:rPr>
              <a:t>Decentralized proof and disputes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09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6B7280"/>
                </a:solidFill>
                <a:latin typeface="Calibri"/>
              </a:rPr>
              <a:t>Closing line: agents need more than wallets. They need payment judgment.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6B7280"/>
                </a:solidFill>
                <a:latin typeface="Calibri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