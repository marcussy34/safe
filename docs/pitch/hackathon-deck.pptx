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"SAFE is a payment firewall for autonomous agents. Wallet caps say how much an agent can spend. SAFE decides whether this specific payment should happen at all."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Spend about 15 seconds. Make the distinction clear: crypto payment validity is not the same as user-intent validity. The 35k-350k estimate is a conservative model: 0.1%-1% of 35M transactions.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"The agent does not sign directly. It asks SAFE. SAFE approves, rejects, or redacts before any settlement is attempted."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terminal or dashboard here. If live network is slow, run dry-run plus show a previous Explorer URL and audit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out that the product is intentionally bounded: devnet, local facilitator, local registry. The important part is the end-to-end control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x402-specific traction: 150M+ agent payments (119M on Base, 35M on Solana), ~$600M annualized volume, a 10,000%+ monthly surge in late 2025, Linux Foundation governance with Visa, Stripe, Circle, Google and Microsoft. Juniper Research: agentic commerce $8B in 2026 → $1.5T by 2030 (~187x). McKinsey: $3-5T by 2030. These are third-party market projections.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isn't a 'we chose Solana because it's fast' slide. The transferFixed instruction from @solana/subscriptions is the specific primitive SAFE is built on — it lets an agent spend from a pre-authorized allowance pool rather than a fully open wallet. No other chain has an equivalent native subscription/allowance model at this maturity. The sub-cent fees and sub-second finality make per-payment policy checks practical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with: "Autonomous agents need more than wallets. They need payment judgment. SAFE is the firewall before money moves."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200">
                <a:solidFill>
                  <a:srgbClr val="F4F7FA"/>
                </a:solidFill>
                <a:latin typeface="Courier New"/>
              </a:rPr>
              <a:t>● SAFE//pitch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29260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2-minute hackathon pitch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SPEND AUTHORIZATION FIREWALL FOR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4200">
                <a:solidFill>
                  <a:srgbClr val="F4F7FA"/>
                </a:solidFill>
                <a:latin typeface="Calibri"/>
              </a:rPr>
              <a:t>Agents can spend.
SAFE decides if they should.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4747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700">
                <a:solidFill>
                  <a:srgbClr val="A2A8B4"/>
                </a:solidFill>
                <a:latin typeface="Calibri"/>
              </a:rPr>
              <a:t>A buyer-side payment firewall that lets AI agents pay for x402 resources through Solana allowances without blind wallet access.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480560"/>
            <a:ext cx="1906524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507992"/>
            <a:ext cx="18150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14F195"/>
                </a:solidFill>
                <a:latin typeface="Calibri"/>
              </a:rPr>
              <a:t>✓ working devnet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83764" y="4480560"/>
            <a:ext cx="2139696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75204" y="4507992"/>
            <a:ext cx="20482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8BDF8"/>
                </a:solidFill>
                <a:latin typeface="Calibri"/>
              </a:rPr>
              <a:t>x402 + Solana allowances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60620" y="4480560"/>
            <a:ext cx="1673352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2060" y="4507992"/>
            <a:ext cx="15819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external-agent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Open with this line.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0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Wallet caps are not judgment.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943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600">
                <a:solidFill>
                  <a:srgbClr val="F4F7FA"/>
                </a:solidFill>
                <a:latin typeface="Calibri"/>
              </a:rPr>
              <a:t>A valid transaction can still be the wrong payment.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03120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A2A8B4"/>
                </a:solidFill>
                <a:latin typeface="Calibri"/>
              </a:rPr>
              <a:t>Solana x402 has already processed real payment volume. Even tiny wrong-payment rates become a large safety problem.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71800"/>
            <a:ext cx="2651760" cy="100584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alibri"/>
              </a:rPr>
              <a:t>35M+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Solana x402 transactions all time.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2971800"/>
            <a:ext cx="2651760" cy="100584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31089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alibri"/>
              </a:rPr>
              <a:t>$10M+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6576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Solana x402 payment volume all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4114800"/>
            <a:ext cx="5440680" cy="91440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251960"/>
            <a:ext cx="5166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BBF24"/>
                </a:solidFill>
                <a:latin typeface="Calibri"/>
              </a:rPr>
              <a:t>35k–350k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00600"/>
            <a:ext cx="5166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Applying a 0.1%–1% wrong-payment rate to observed Solana x402 volume.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166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1" sz="900">
                <a:solidFill>
                  <a:srgbClr val="6B7280"/>
                </a:solidFill>
                <a:latin typeface="Calibri"/>
              </a:rPr>
              <a:t>Modeled from public Solana x402 volume × wrong-payment rates from x402 attack research.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05840"/>
            <a:ext cx="5303520" cy="484632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3716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87171"/>
                </a:solidFill>
                <a:latin typeface="Calibri"/>
              </a:rPr>
              <a:t>✗  Fake merchant gets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121408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87171"/>
                </a:solidFill>
                <a:latin typeface="Calibri"/>
              </a:rPr>
              <a:t>✗  Retry loop drains budget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871215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87171"/>
                </a:solidFill>
                <a:latin typeface="Calibri"/>
              </a:rPr>
              <a:t>✗  Wrong category slips through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6210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87171"/>
                </a:solidFill>
                <a:latin typeface="Calibri"/>
              </a:rPr>
              <a:t>✗  PII metadata leaks 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4370831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500">
                <a:solidFill>
                  <a:srgbClr val="F87171"/>
                </a:solidFill>
                <a:latin typeface="Calibri"/>
              </a:rPr>
              <a:t>✗  Recipient mismatch still signs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Public dashboards count volume. SAFE blocks and records wrong payments.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0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Pre-signing policy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4F7FA"/>
                </a:solidFill>
                <a:latin typeface="Calibri"/>
              </a:rPr>
              <a:t>SAFE sits between the agent and money.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920240"/>
            <a:ext cx="2103120" cy="228600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0574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ourier New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4F7FA"/>
                </a:solidFill>
                <a:latin typeface="Calibri"/>
              </a:rPr>
              <a:t>x402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0632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Paid API returns a structured payment requirement.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2670048" y="1920240"/>
            <a:ext cx="2103120" cy="228600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20574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2606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4F7FA"/>
                </a:solidFill>
                <a:latin typeface="Calibri"/>
              </a:rPr>
              <a:t>Normalize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7208" y="30632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Merchant, amount, token, recipient, URL, reason.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82896" y="1920240"/>
            <a:ext cx="2103120" cy="228600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0056" y="20574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ourier New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0056" y="2606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4F7FA"/>
                </a:solidFill>
                <a:latin typeface="Calibri"/>
              </a:rPr>
              <a:t>Policy 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0056" y="30632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Trust, category, cap, replay, PII, allowance.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95744" y="1920240"/>
            <a:ext cx="2103120" cy="228600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32904" y="20574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ourier New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2904" y="2606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4F7FA"/>
                </a:solidFill>
                <a:latin typeface="Calibri"/>
              </a:rPr>
              <a:t>Settle or block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30632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Approved payments settle. Unsafe ones never sign.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08592" y="1920240"/>
            <a:ext cx="2103120" cy="228600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2057400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ourier New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2606040"/>
            <a:ext cx="1920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F4F7FA"/>
                </a:solidFill>
                <a:latin typeface="Calibri"/>
              </a:rPr>
              <a:t>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3063240"/>
            <a:ext cx="1920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Decision, reason, and tx receipt.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SAFE is not a wallet. SAFE is the buyer-side payment firewall.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0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Spend about 60 seconds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4F7FA"/>
                </a:solidFill>
                <a:latin typeface="Calibri"/>
              </a:rPr>
              <a:t>External agent to devnet settlement.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669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A2A8B4"/>
                </a:solidFill>
                <a:latin typeface="Calibri"/>
              </a:rPr>
              <a:t>The demo proves the full path, not just policy text.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06040"/>
            <a:ext cx="1517904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33472"/>
            <a:ext cx="14264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14F195"/>
                </a:solidFill>
                <a:latin typeface="Calibri"/>
              </a:rPr>
              <a:t>✓ approved stats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95144" y="2606040"/>
            <a:ext cx="2061972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86584" y="2633472"/>
            <a:ext cx="19705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F87171"/>
                </a:solidFill>
                <a:latin typeface="Calibri"/>
              </a:rPr>
              <a:t>✗ blocked fake merchant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4276" y="2606040"/>
            <a:ext cx="1284732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85716" y="2633472"/>
            <a:ext cx="11932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8BDF8"/>
                </a:solidFill>
                <a:latin typeface="Calibri"/>
              </a:rPr>
              <a:t>audit visible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92240" y="914400"/>
            <a:ext cx="5486400" cy="493776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914400"/>
            <a:ext cx="5486400" cy="384048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96012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6B7280"/>
                </a:solidFill>
                <a:latin typeface="Courier New"/>
              </a:rPr>
              <a:t>demo script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960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ourier New"/>
              </a:rPr>
              <a:t>localhost:3000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1417320"/>
            <a:ext cx="52120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300">
                <a:solidFill>
                  <a:srgbClr val="14F195"/>
                </a:solidFill>
                <a:latin typeface="Courier New"/>
              </a:rPr>
              <a:t>BASE=http://localhost:3000
pnpm safe doctor
pnpm safe pay $BASE/api/x402/stats --dry-run
pnpm safe pay $BASE/api/x402/stats
pnpm safe pay $BASE/api/x402/fake-merch --dry-run
pnpm safe audit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Show: decision, tx signature, Explorer URL — then the audit record via `safe audit`.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What Works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0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Local/private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0058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600">
                <a:solidFill>
                  <a:srgbClr val="F4F7FA"/>
                </a:solidFill>
                <a:latin typeface="Calibri"/>
              </a:rPr>
              <a:t>Not a mockup. A working control plane.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920240"/>
            <a:ext cx="2651760" cy="118872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05740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14F195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60604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SAFE API routes for agents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40" y="1920240"/>
            <a:ext cx="2834640" cy="118872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9720" y="20574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800">
                <a:solidFill>
                  <a:srgbClr val="F4F7FA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26060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integration paths: HTTP, SDK, CLI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3337560"/>
            <a:ext cx="973836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3364992"/>
            <a:ext cx="8823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preflight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01484" y="3337560"/>
            <a:ext cx="818388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92924" y="3364992"/>
            <a:ext cx="72694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dry-run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3337560"/>
            <a:ext cx="507491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3364992"/>
            <a:ext cx="416051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pay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46819" y="3337560"/>
            <a:ext cx="662940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38259" y="3364992"/>
            <a:ext cx="5715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audit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19487" y="3337560"/>
            <a:ext cx="973836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0927" y="3364992"/>
            <a:ext cx="8823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redaction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703051" y="3337560"/>
            <a:ext cx="1207008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794491" y="3364992"/>
            <a:ext cx="11155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replay guard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914400"/>
            <a:ext cx="5486400" cy="493776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274320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i="0" sz="1600">
                <a:solidFill>
                  <a:srgbClr val="6B7280"/>
                </a:solidFill>
                <a:latin typeface="Calibri"/>
              </a:rPr>
              <a:t>[SAFE Console
screenshots]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Current MVP: devnet-only, local/private SDK and CLI.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0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x402 agent payments went 0 → 150M+ in under a year.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600">
                <a:solidFill>
                  <a:srgbClr val="F4F7FA"/>
                </a:solidFill>
                <a:latin typeface="Calibri"/>
              </a:rPr>
              <a:t>x402 is the agent payment rail.
Agentic volume is projected to 187× by 2030.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286000"/>
            <a:ext cx="10881360" cy="68580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317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4F7FA"/>
                </a:solidFill>
                <a:latin typeface="Calibri"/>
              </a:rPr>
              <a:t>x402 today:  150M+ agent payments (119M on Base, 35M on Solana) and ~$600M annualized volume in under a year — now governed by the Linux Foundation with Visa, Stripe, Circle, Google &amp; Microsoft behind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4680"/>
            <a:ext cx="2606040" cy="219456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4F7FA"/>
                </a:solidFill>
                <a:latin typeface="Calibri"/>
              </a:rPr>
              <a:t>+10,000%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97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x402 monthly transaction surge when agents went live.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3154680"/>
            <a:ext cx="2606040" cy="219456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02152" y="3246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356616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4F7FA"/>
                </a:solidFill>
                <a:latin typeface="Calibri"/>
              </a:rPr>
              <a:t>$8B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2152" y="4297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agentic commerce transaction value this year (Juniper).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89904" y="3154680"/>
            <a:ext cx="2606040" cy="219456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7064" y="3246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2030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7064" y="356616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14F195"/>
                </a:solidFill>
                <a:latin typeface="Calibri"/>
              </a:rPr>
              <a:t>$1.5T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4" y="4297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projected agentic commerce value — ~187× in four years (Juniper).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14816" y="3154680"/>
            <a:ext cx="2606040" cy="219456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3246120"/>
            <a:ext cx="2423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2030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1976" y="3566160"/>
            <a:ext cx="2423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4F7FA"/>
                </a:solidFill>
                <a:latin typeface="Calibri"/>
              </a:rPr>
              <a:t>$3–5T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1976" y="4297680"/>
            <a:ext cx="2423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100">
                <a:solidFill>
                  <a:srgbClr val="A2A8B4"/>
                </a:solidFill>
                <a:latin typeface="Calibri"/>
              </a:rPr>
              <a:t>agentic payments worldwide (McKinsey).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486400"/>
            <a:ext cx="10881360" cy="64008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200">
                <a:solidFill>
                  <a:srgbClr val="F4F7FA"/>
                </a:solidFill>
                <a:latin typeface="Calibri"/>
              </a:rPr>
              <a:t>x402 moves the money; SAFE decides whether it should move. Every agent payment needs a pre-signing safety check — so SAFE's market is agentic payment volume.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The agent payment rail is compounding — the safety layer has to scale with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Why Solana?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0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The only chain with a native agent-payment primitive.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4F7FA"/>
                </a:solidFill>
                <a:latin typeface="Calibri"/>
              </a:rPr>
              <a:t>Solana is purpose-built for agent micropayments.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A2A8B4"/>
                </a:solidFill>
                <a:latin typeface="Calibri"/>
              </a:rPr>
              <a:t>Every design choice in SAFE — allowances, transferFixed, sub-cent fees, sub-second finality — is possible because of how Solana works.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743200"/>
            <a:ext cx="3566160" cy="141732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83464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14F195"/>
                </a:solidFill>
                <a:latin typeface="Calibri"/>
              </a:rPr>
              <a:t>~$0.00025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2735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A2A8B4"/>
                </a:solidFill>
                <a:latin typeface="Calibri"/>
              </a:rPr>
              <a:t>per transaction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56616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Sub-cent fees make micropayment firewalls economically viable.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43200"/>
            <a:ext cx="3566160" cy="141732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283464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F4F7FA"/>
                </a:solidFill>
                <a:latin typeface="Calibri"/>
              </a:rPr>
              <a:t>&lt;400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735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A2A8B4"/>
                </a:solidFill>
                <a:latin typeface="Calibri"/>
              </a:rPr>
              <a:t>block 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7992" y="356616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Pre-signing checks complete well inside a single block.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743200"/>
            <a:ext cx="3566160" cy="1417320"/>
          </a:xfrm>
          <a:prstGeom prst="rect">
            <a:avLst/>
          </a:prstGeom>
          <a:solidFill>
            <a:srgbClr val="1417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11312" y="283464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14F195"/>
                </a:solidFill>
                <a:latin typeface="Calibri"/>
              </a:rPr>
              <a:t>35M+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2735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A2A8B4"/>
                </a:solidFill>
                <a:latin typeface="Calibri"/>
              </a:rPr>
              <a:t>Solana x402 txns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2" y="3566160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The rail is already live — SAFE plugs into existing volume.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325112"/>
            <a:ext cx="3566160" cy="141732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41655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38BDF8"/>
                </a:solidFill>
                <a:latin typeface="Calibri"/>
              </a:rPr>
              <a:t>transferFixed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855464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A2A8B4"/>
                </a:solidFill>
                <a:latin typeface="Calibri"/>
              </a:rPr>
              <a:t>@solana/subscriptions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51480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Native allowance primitive: agents spend from a capped pool, not a free wallet.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325112"/>
            <a:ext cx="3566160" cy="141732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07992" y="441655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F4F7FA"/>
                </a:solidFill>
                <a:latin typeface="Calibri"/>
              </a:rPr>
              <a:t>USDC (SPL)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855464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A2A8B4"/>
                </a:solidFill>
                <a:latin typeface="Calibri"/>
              </a:rPr>
              <a:t>native stablecoin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51480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No wrapping. Agent payments settle in the stablecoin already on-chain.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4325112"/>
            <a:ext cx="3566160" cy="141732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2" y="441655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2200">
                <a:solidFill>
                  <a:srgbClr val="6B7280"/>
                </a:solidFill>
                <a:latin typeface="Calibri"/>
              </a:rPr>
              <a:t>Anchor programs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4855464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A2A8B4"/>
                </a:solidFill>
                <a:latin typeface="Calibri"/>
              </a:rPr>
              <a:t>on-chain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5148072"/>
            <a:ext cx="3337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Future: move firewall rules on-chain for trustless enforcement.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Solana allowances are the only chain-native cap model that fits an agent firewall.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C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100">
                <a:solidFill>
                  <a:srgbClr val="14F195"/>
                </a:solidFill>
                <a:latin typeface="Courier New"/>
              </a:rPr>
              <a:t>// Grand Vision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0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100">
                <a:solidFill>
                  <a:srgbClr val="6B7280"/>
                </a:solidFill>
                <a:latin typeface="Calibri"/>
              </a:rPr>
              <a:t>Private-first, shared-by-proof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058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3000">
                <a:solidFill>
                  <a:srgbClr val="F4F7FA"/>
                </a:solidFill>
                <a:latin typeface="Calibri"/>
              </a:rPr>
              <a:t>From payment firewall to shared trust layer.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5669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A2A8B4"/>
                </a:solidFill>
                <a:latin typeface="Calibri"/>
              </a:rPr>
              <a:t>SAFE starts local. Then unknown payments can be verified by private agents, turned into signed evidence, and reused as sanitized trust signals.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926080"/>
            <a:ext cx="1984248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953512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14F195"/>
                </a:solidFill>
                <a:latin typeface="Calibri"/>
              </a:rPr>
              <a:t>private verifier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61488" y="2926080"/>
            <a:ext cx="1906524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2928" y="2953512"/>
            <a:ext cx="181508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38BDF8"/>
                </a:solidFill>
                <a:latin typeface="Calibri"/>
              </a:rPr>
              <a:t>shared trust database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05172" y="2926080"/>
            <a:ext cx="1828800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6612" y="2953512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Solana proof anchors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10128"/>
            <a:ext cx="1984248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189280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Filecoin/IPFS evidence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61488" y="3310128"/>
            <a:ext cx="2217420" cy="256032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3337560"/>
            <a:ext cx="21259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000">
                <a:solidFill>
                  <a:srgbClr val="6B7280"/>
                </a:solidFill>
                <a:latin typeface="Calibri"/>
              </a:rPr>
              <a:t>0G later for AI-native DA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1005840"/>
            <a:ext cx="5303520" cy="5029200"/>
          </a:xfrm>
          <a:prstGeom prst="rect">
            <a:avLst/>
          </a:prstGeom>
          <a:solidFill>
            <a:srgbClr val="181C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141732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14F195"/>
                </a:solidFill>
                <a:latin typeface="Calibri"/>
              </a:rPr>
              <a:t>Today: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141732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F4F7FA"/>
                </a:solidFill>
                <a:latin typeface="Calibri"/>
              </a:rPr>
              <a:t>Local SAFE firewall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228600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14F195"/>
                </a:solidFill>
                <a:latin typeface="Calibri"/>
              </a:rPr>
              <a:t>Next: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28600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F4F7FA"/>
                </a:solidFill>
                <a:latin typeface="Calibri"/>
              </a:rPr>
              <a:t>Verifier agents for unknown merchants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3154680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14F195"/>
                </a:solidFill>
                <a:latin typeface="Calibri"/>
              </a:rPr>
              <a:t>Then: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31546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F4F7FA"/>
                </a:solidFill>
                <a:latin typeface="Calibri"/>
              </a:rPr>
              <a:t>Shared trust records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023359"/>
            <a:ext cx="1097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1" i="0" sz="1400">
                <a:solidFill>
                  <a:srgbClr val="14F195"/>
                </a:solidFill>
                <a:latin typeface="Calibri"/>
              </a:rPr>
              <a:t>Later: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023359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400">
                <a:solidFill>
                  <a:srgbClr val="F4F7FA"/>
                </a:solidFill>
                <a:latin typeface="Calibri"/>
              </a:rPr>
              <a:t>Decentralized proof and disputes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093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b="0" i="0" sz="1000">
                <a:solidFill>
                  <a:srgbClr val="6B7280"/>
                </a:solidFill>
                <a:latin typeface="Calibri"/>
              </a:rPr>
              <a:t>Closing line: agents need more than wallets. They need payment judgment.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63093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b="0" i="0" sz="1000">
                <a:solidFill>
                  <a:srgbClr val="6B7280"/>
                </a:solidFill>
                <a:latin typeface="Calibri"/>
              </a:rP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